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8B5E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963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9963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1.0</c:v>
                  </c:pt>
                  <c:pt idx="1">
                    <c:v>1.5</c:v>
                  </c:pt>
                  <c:pt idx="2">
                    <c:v>1.75</c:v>
                  </c:pt>
                  <c:pt idx="3">
                    <c:v>2.0</c:v>
                  </c:pt>
                  <c:pt idx="4">
                    <c:v>2.25</c:v>
                  </c:pt>
                  <c:pt idx="5">
                    <c:v>2.5</c:v>
                  </c:pt>
                  <c:pt idx="6">
                    <c:v>2.75</c:v>
                  </c:pt>
                  <c:pt idx="7">
                    <c:v>3.0</c:v>
                  </c:pt>
                  <c:pt idx="8">
                    <c:v>3.25</c:v>
                  </c:pt>
                  <c:pt idx="9">
                    <c:v>3.5</c:v>
                  </c:pt>
                  <c:pt idx="10">
                    <c:v>3.75</c:v>
                  </c:pt>
                  <c:pt idx="11">
                    <c:v>4.0</c:v>
                  </c:pt>
                  <c:pt idx="12">
                    <c:v>5.0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10</c:v>
                </c:pt>
                <c:pt idx="2">
                  <c:v>3</c:v>
                </c:pt>
                <c:pt idx="3">
                  <c:v>32</c:v>
                </c:pt>
                <c:pt idx="4">
                  <c:v>14</c:v>
                </c:pt>
                <c:pt idx="5">
                  <c:v>127</c:v>
                </c:pt>
                <c:pt idx="6">
                  <c:v>259</c:v>
                </c:pt>
                <c:pt idx="7">
                  <c:v>341</c:v>
                </c:pt>
                <c:pt idx="8">
                  <c:v>303</c:v>
                </c:pt>
                <c:pt idx="9">
                  <c:v>392</c:v>
                </c:pt>
                <c:pt idx="10">
                  <c:v>210</c:v>
                </c:pt>
                <c:pt idx="11">
                  <c:v>98</c:v>
                </c:pt>
                <c:pt idx="1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3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C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5C331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B86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4A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4A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201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2C1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C181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56–60%</c:v>
                  </c:pt>
                  <c:pt idx="1">
                    <c:v>61–65%</c:v>
                  </c:pt>
                  <c:pt idx="2">
                    <c:v>66–70%</c:v>
                  </c:pt>
                  <c:pt idx="3">
                    <c:v>71–75%</c:v>
                  </c:pt>
                  <c:pt idx="4">
                    <c:v>76–80%</c:v>
                  </c:pt>
                  <c:pt idx="5">
                    <c:v>81–85%</c:v>
                  </c:pt>
                  <c:pt idx="6">
                    <c:v>86–90%</c:v>
                  </c:pt>
                  <c:pt idx="7">
                    <c:v>91–95%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3.03</c:v>
                </c:pt>
                <c:pt idx="1">
                  <c:v>3.18</c:v>
                </c:pt>
                <c:pt idx="2">
                  <c:v>3.29</c:v>
                </c:pt>
                <c:pt idx="3">
                  <c:v>3.18</c:v>
                </c:pt>
                <c:pt idx="4">
                  <c:v>3.06</c:v>
                </c:pt>
                <c:pt idx="5">
                  <c:v>2.98</c:v>
                </c:pt>
                <c:pt idx="6">
                  <c:v>3.06</c:v>
                </c:pt>
                <c:pt idx="7">
                  <c:v>2.17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E8B86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C5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1.8"/>
        </c:scaling>
        <c:delete val="0"/>
        <c:axPos val="l"/>
        <c:majorGridlines>
          <c:spPr>
            <a:ln w="6350" cap="flat">
              <a:solidFill>
                <a:srgbClr val="4A302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C5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C181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C996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6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6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Haiti</c:v>
                  </c:pt>
                  <c:pt idx="1">
                    <c:v>Honduras</c:v>
                  </c:pt>
                  <c:pt idx="2">
                    <c:v>Congo</c:v>
                  </c:pt>
                  <c:pt idx="3">
                    <c:v>Guatemala</c:v>
                  </c:pt>
                  <c:pt idx="4">
                    <c:v>Vietnam</c:v>
                  </c:pt>
                  <c:pt idx="5">
                    <c:v>Papua New Guinea</c:v>
                  </c:pt>
                  <c:pt idx="6">
                    <c:v>Brazil</c:v>
                  </c:pt>
                  <c:pt idx="7">
                    <c:v>Madagascar</c:v>
                  </c:pt>
                  <c:pt idx="8">
                    <c:v>Cuba</c:v>
                  </c:pt>
                  <c:pt idx="9">
                    <c:v>Vanuatu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3.39</c:v>
                </c:pt>
                <c:pt idx="1">
                  <c:v>3.35</c:v>
                </c:pt>
                <c:pt idx="2">
                  <c:v>3.33</c:v>
                </c:pt>
                <c:pt idx="3">
                  <c:v>3.32</c:v>
                </c:pt>
                <c:pt idx="4">
                  <c:v>3.32</c:v>
                </c:pt>
                <c:pt idx="5">
                  <c:v>3.29</c:v>
                </c:pt>
                <c:pt idx="6">
                  <c:v>3.28</c:v>
                </c:pt>
                <c:pt idx="7">
                  <c:v>3.27</c:v>
                </c:pt>
                <c:pt idx="8">
                  <c:v>3.25</c:v>
                </c:pt>
                <c:pt idx="9">
                  <c:v>3.25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18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3.1"/>
        </c:scaling>
        <c:delete val="0"/>
        <c:axPos val="b"/>
        <c:majorGridlines>
          <c:spPr>
            <a:ln w="6350" cap="flat">
              <a:solidFill>
                <a:srgbClr val="D4C5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3E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C996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B86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6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6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Forastero (Parazinho)</c:v>
                  </c:pt>
                  <c:pt idx="1">
                    <c:v>Criollo (Porcelana)</c:v>
                  </c:pt>
                  <c:pt idx="2">
                    <c:v>Blend</c:v>
                  </c:pt>
                  <c:pt idx="3">
                    <c:v>Criollo + Trinitario</c:v>
                  </c:pt>
                  <c:pt idx="4">
                    <c:v>Forastero (Nacional)</c:v>
                  </c:pt>
                  <c:pt idx="5">
                    <c:v>Trinitario</c:v>
                  </c:pt>
                  <c:pt idx="6">
                    <c:v>Criollo</c:v>
                  </c:pt>
                  <c:pt idx="7">
                    <c:v>Forastero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3.53</c:v>
                </c:pt>
                <c:pt idx="1">
                  <c:v>3.38</c:v>
                </c:pt>
                <c:pt idx="2">
                  <c:v>3.35</c:v>
                </c:pt>
                <c:pt idx="3">
                  <c:v>3.3</c:v>
                </c:pt>
                <c:pt idx="4">
                  <c:v>3.27</c:v>
                </c:pt>
                <c:pt idx="5">
                  <c:v>3.25</c:v>
                </c:pt>
                <c:pt idx="6">
                  <c:v>3.24</c:v>
                </c:pt>
                <c:pt idx="7">
                  <c:v>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B86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C5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7"/>
          <c:min val="2.9"/>
        </c:scaling>
        <c:delete val="0"/>
        <c:axPos val="b"/>
        <c:majorGridlines>
          <c:spPr>
            <a:ln w="6350" cap="flat">
              <a:solidFill>
                <a:srgbClr val="4A302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4C5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C18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5C3317">
              <a:alpha val="40000"/>
            </a:srgbClr>
          </a:solidFill>
          <a:ln w="19050">
            <a:solidFill>
              <a:srgbClr val="8B5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5C3317">
              <a:alpha val="6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A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Chocolate?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· Pricing Strategy · Market Positioning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931920"/>
            <a:ext cx="1920240" cy="868680"/>
          </a:xfrm>
          <a:prstGeom prst="rect">
            <a:avLst/>
          </a:prstGeom>
          <a:solidFill>
            <a:srgbClr val="5C3317">
              <a:alpha val="6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950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Reviewed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3931920"/>
            <a:ext cx="1920240" cy="868680"/>
          </a:xfrm>
          <a:prstGeom prst="rect">
            <a:avLst/>
          </a:prstGeom>
          <a:solidFill>
            <a:srgbClr val="5C3317">
              <a:alpha val="6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950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Brands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3931920"/>
            <a:ext cx="1920240" cy="868680"/>
          </a:xfrm>
          <a:prstGeom prst="rect">
            <a:avLst/>
          </a:prstGeom>
          <a:solidFill>
            <a:srgbClr val="5C3317">
              <a:alpha val="6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950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Share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3931920"/>
            <a:ext cx="1920240" cy="868680"/>
          </a:xfrm>
          <a:prstGeom prst="rect">
            <a:avLst/>
          </a:prstGeom>
          <a:solidFill>
            <a:srgbClr val="5C3317">
              <a:alpha val="6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950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Origins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834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834640" cy="16459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716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38912" y="19019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is Rare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24231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39% of chocolate bars qualify as premium (≥3.5/5). The market is ripe for differentiation — most bars are clustered in the mediocre 2.75–3.25 zone.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834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834640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3716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10712" y="19019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Cocoa % Myth Busted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24231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cocoa does NOT mean better chocolate. The 65–70% band is the sweet spot. Above 85%, ratings drop sharply. This is a critical pricing &amp; messaging insight.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834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83464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3716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82512" y="19019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Drive Quality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4231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 and Honduras lead in quality scores but are dramatically under-represented on shelves — a first-mover opportunity for a premium single-origin launch.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bars cluster around 3.0–3.5 — a thin premium tier sits above the crowded middle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8016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371600"/>
            <a:ext cx="2560320" cy="1005840"/>
          </a:xfrm>
          <a:prstGeom prst="rect">
            <a:avLst/>
          </a:prstGeom>
          <a:solidFill>
            <a:srgbClr val="FAF3E8"/>
          </a:solidFill>
          <a:ln w="6350">
            <a:solidFill>
              <a:srgbClr val="EDE0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1371600"/>
            <a:ext cx="73152" cy="100584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444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92240" y="1938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2560320"/>
            <a:ext cx="2560320" cy="1005840"/>
          </a:xfrm>
          <a:prstGeom prst="rect">
            <a:avLst/>
          </a:prstGeom>
          <a:solidFill>
            <a:srgbClr val="FAF3E8"/>
          </a:solidFill>
          <a:ln w="6350">
            <a:solidFill>
              <a:srgbClr val="EDE0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2560320"/>
            <a:ext cx="73152" cy="100584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633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92240" y="3127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threshold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3749040"/>
            <a:ext cx="2560320" cy="1005840"/>
          </a:xfrm>
          <a:prstGeom prst="rect">
            <a:avLst/>
          </a:prstGeom>
          <a:solidFill>
            <a:srgbClr val="FAF3E8"/>
          </a:solidFill>
          <a:ln w="6350">
            <a:solidFill>
              <a:srgbClr val="EDE0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3749040"/>
            <a:ext cx="73152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822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39.1%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49224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bars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Cocoa % Paradox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cocoa ≠ better chocolate — the data tells a different story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280160"/>
            <a:ext cx="2743200" cy="1463040"/>
          </a:xfrm>
          <a:prstGeom prst="rect">
            <a:avLst/>
          </a:prstGeom>
          <a:solidFill>
            <a:srgbClr val="1D9E75">
              <a:alpha val="85000"/>
            </a:srgbClr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Sweet Spot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63640" y="17373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66–70% cocoa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avg rating: 3.29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band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926080"/>
            <a:ext cx="2743200" cy="1463040"/>
          </a:xfrm>
          <a:prstGeom prst="rect">
            <a:avLst/>
          </a:prstGeom>
          <a:solidFill>
            <a:srgbClr val="5C3317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Warning Zone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63640" y="34015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91–95% cocoa drops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2.17 avg —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all bands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 Quality Map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97280"/>
            <a:ext cx="228600" cy="201168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960" y="1097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17920" y="1389888"/>
            <a:ext cx="22860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Contenders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682496"/>
            <a:ext cx="228600" cy="20116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1682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Origins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194560"/>
            <a:ext cx="2880360" cy="2651760"/>
          </a:xfrm>
          <a:prstGeom prst="rect">
            <a:avLst/>
          </a:prstGeom>
          <a:solidFill>
            <a:srgbClr val="2C1810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3042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2743200"/>
            <a:ext cx="2606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 (3.39)</a:t>
            </a:r>
            <a:pPr indent="0" marL="0">
              <a:buNone/>
            </a:pPr>
            <a:r>
              <a:rPr lang="en-US" sz="11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highest-rated origin but has only 9 products reviewed — suggesting minimal shelf presence.
</a:t>
            </a:r>
            <a:pPr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Madagascar</a:t>
            </a:r>
            <a:pPr indent="0" marL="0">
              <a:buNone/>
            </a:pPr>
            <a:r>
              <a:rPr lang="en-US" sz="11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145 products but lower avg (3.27) — market is saturated. Differentiate with </a:t>
            </a:r>
            <a:pPr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 or Honduras</a:t>
            </a:r>
            <a:pPr indent="0" marL="0">
              <a:buNone/>
            </a:pPr>
            <a:r>
              <a:rPr lang="en-US" sz="11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premium positioning play.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Rankings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brands by average rating (minimum 5 products)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4592" y="12070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Amedei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17520" y="1298448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298448"/>
            <a:ext cx="4114800" cy="1828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207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0" y="12070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 premium · Italy · n=13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4592" y="15864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5864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1677924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677924"/>
            <a:ext cx="3409406" cy="1828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5864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0" y="15864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premium · USA · n=6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4592" y="1965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Idilio (Felchlin)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17520" y="2057400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057400"/>
            <a:ext cx="3291840" cy="1828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965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0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premium · Switzerland · n=10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4592" y="23454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23454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Benoit Nihant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17520" y="2436876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436876"/>
            <a:ext cx="2468880" cy="1828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34543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3.71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0" y="23454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premium · Belgium · n=6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4592" y="2724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 Sampaka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17520" y="2816352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2816352"/>
            <a:ext cx="1998617" cy="1828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7249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3.67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772400" y="27249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 premium · Spain · n=9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4592" y="31043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1043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Au Chocolat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017520" y="3195828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195828"/>
            <a:ext cx="1175657" cy="1828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1043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3.60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72400" y="31043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premium · USA · n=5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64592" y="34838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34838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017520" y="3575304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3575304"/>
            <a:ext cx="1058091" cy="182880"/>
          </a:xfrm>
          <a:prstGeom prst="rect">
            <a:avLst/>
          </a:prstGeom>
          <a:solidFill>
            <a:srgbClr val="D4C5AA"/>
          </a:solidFill>
          <a:ln w="12700">
            <a:solidFill>
              <a:srgbClr val="D4C5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348386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3.59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772400" y="348386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 premium · Canada · n=47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4592" y="38633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38633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Brasstown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017520" y="3954780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3954780"/>
            <a:ext cx="705394" cy="182880"/>
          </a:xfrm>
          <a:prstGeom prst="rect">
            <a:avLst/>
          </a:prstGeom>
          <a:solidFill>
            <a:srgbClr val="D4C5AA"/>
          </a:solidFill>
          <a:ln w="12700">
            <a:solidFill>
              <a:srgbClr val="D4C5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38633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3.56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772400" y="38633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 premium · USA · n=9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64592" y="42428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Zokoko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017520" y="4334256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7520" y="4334256"/>
            <a:ext cx="587829" cy="182880"/>
          </a:xfrm>
          <a:prstGeom prst="rect">
            <a:avLst/>
          </a:prstGeom>
          <a:solidFill>
            <a:srgbClr val="D4C5AA"/>
          </a:solidFill>
          <a:ln w="12700">
            <a:solidFill>
              <a:srgbClr val="D4C5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0" y="42428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3.55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772400" y="42428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premium · Australia · n=5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64592" y="46222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0080" y="46222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Ramon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017520" y="4713732"/>
            <a:ext cx="4114800" cy="182880"/>
          </a:xfrm>
          <a:prstGeom prst="rect">
            <a:avLst/>
          </a:prstGeom>
          <a:solidFill>
            <a:srgbClr val="EDE0C8"/>
          </a:solidFill>
          <a:ln w="12700">
            <a:solidFill>
              <a:srgbClr val="EDE0C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17520" y="4713732"/>
            <a:ext cx="587829" cy="182880"/>
          </a:xfrm>
          <a:prstGeom prst="rect">
            <a:avLst/>
          </a:prstGeom>
          <a:solidFill>
            <a:srgbClr val="D4C5AA"/>
          </a:solidFill>
          <a:ln w="12700">
            <a:solidFill>
              <a:srgbClr val="D4C5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0" y="46222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C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3.55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772400" y="46222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premium · Germany · n=5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37160" y="1170432"/>
            <a:ext cx="8869680" cy="1138428"/>
          </a:xfrm>
          <a:prstGeom prst="rect">
            <a:avLst/>
          </a:prstGeom>
          <a:solidFill>
            <a:srgbClr val="FAF3E8">
              <a:alpha val="70000"/>
            </a:srgbClr>
          </a:solidFill>
          <a:ln w="3810">
            <a:solidFill>
              <a:srgbClr val="EDE0C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Bean Variety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varieties punch above their weight — quality over volume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71600"/>
            <a:ext cx="2926080" cy="1005840"/>
          </a:xfrm>
          <a:prstGeom prst="rect">
            <a:avLst/>
          </a:prstGeom>
          <a:solidFill>
            <a:srgbClr val="5C3317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Forastero Parazinho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17739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Rarest &amp; best (3.53). Tiny supply — premium positioning justified.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560320"/>
            <a:ext cx="2926080" cy="1005840"/>
          </a:xfrm>
          <a:prstGeom prst="rect">
            <a:avLst/>
          </a:prstGeom>
          <a:solidFill>
            <a:srgbClr val="5C3317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Criollo Porcelana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29626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variety, 3.38 avg. Pairs well with Haiti origin story.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3749040"/>
            <a:ext cx="2926080" cy="1005840"/>
          </a:xfrm>
          <a:prstGeom prst="rect">
            <a:avLst/>
          </a:prstGeom>
          <a:solidFill>
            <a:srgbClr val="5C3317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Trinitario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415137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Workhorse of the industry — 419 bars, 3.25 avg. Reliable for scale.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Segment Deep-Dive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109728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25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bars (≥3.5)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109728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325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64992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Amedei premium 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743200" cy="109728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325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66–70%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91072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cocoa for premium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7432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632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Haiti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premium origin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7432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0632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Forastero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Parazinho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64992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premium bean 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27432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30632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Italy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91072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premium maker country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 Chocolate Formula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Data-derived optimal product specification for a premium launch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1234440"/>
            <a:ext cx="3291840" cy="3520440"/>
          </a:xfrm>
          <a:prstGeom prst="rect">
            <a:avLst/>
          </a:prstGeom>
          <a:solidFill>
            <a:srgbClr val="5C3317"/>
          </a:solidFill>
          <a:ln w="19050">
            <a:solidFill>
              <a:srgbClr val="C996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1234440"/>
            <a:ext cx="3291840" cy="54864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2984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BAR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324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Cocoa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359152"/>
            <a:ext cx="2743200" cy="0"/>
          </a:xfrm>
          <a:prstGeom prst="line">
            <a:avLst/>
          </a:prstGeom>
          <a:noFill/>
          <a:ln w="6350">
            <a:solidFill>
              <a:srgbClr val="8B5E3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06324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 Origin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2907792"/>
            <a:ext cx="2743200" cy="0"/>
          </a:xfrm>
          <a:prstGeom prst="line">
            <a:avLst/>
          </a:prstGeom>
          <a:noFill/>
          <a:ln w="6350">
            <a:solidFill>
              <a:srgbClr val="8B5E3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06324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Forastero Parazinho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456432"/>
            <a:ext cx="2743200" cy="0"/>
          </a:xfrm>
          <a:prstGeom prst="line">
            <a:avLst/>
          </a:prstGeom>
          <a:noFill/>
          <a:ln w="6350">
            <a:solidFill>
              <a:srgbClr val="8B5E3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06324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/ Brazil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4005072"/>
            <a:ext cx="2743200" cy="0"/>
          </a:xfrm>
          <a:prstGeom prst="line">
            <a:avLst/>
          </a:prstGeom>
          <a:noFill/>
          <a:ln w="6350">
            <a:solidFill>
              <a:srgbClr val="8B5E3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06324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$9–$12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1234440"/>
            <a:ext cx="2468880" cy="3520440"/>
          </a:xfrm>
          <a:prstGeom prst="rect">
            <a:avLst/>
          </a:prstGeom>
          <a:solidFill>
            <a:srgbClr val="5C3317">
              <a:alpha val="4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3533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68%?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1783080"/>
            <a:ext cx="2194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66–70% band achieves the highest avg rating (3.29). At 68%, you're in peak territory with mass appeal while maintaining craft credibility.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75%: bitter complexity outpaces pleasure. Below 62%: perceived as 'not serious' by premium buyers.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234440"/>
            <a:ext cx="2468880" cy="3520440"/>
          </a:xfrm>
          <a:prstGeom prst="rect">
            <a:avLst/>
          </a:prstGeom>
          <a:solidFill>
            <a:srgbClr val="5C3317">
              <a:alpha val="4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3533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Haiti?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1783080"/>
            <a:ext cx="2194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rating among statistically significant origins (3.39). Only 9 products reviewed = near-zero shelf competition.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origin story: post-disaster recovery, cacao cooperatives, terroir narrative. Resonates with premium buyers in US + Australia.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Launch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97280"/>
            <a:ext cx="594360" cy="17830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430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41832" y="1188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160020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Single-origin Haiti premium bar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190195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cocoa — 'The sweet spot of complexity'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220370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Anti-marketing: debunk 'more cocoa = better'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" y="25054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+ ethics narrative (cooperative sourcing)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109728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097280"/>
            <a:ext cx="594360" cy="1783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1430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76672" y="1188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76672" y="160020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point: $9–$12 per bar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76672" y="190195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mainstream ($3–5) but below ultra-luxury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76672" y="220370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premium segment is structurally under-served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76672" y="25054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Premiumise packaging; justify at retail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06324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63240"/>
            <a:ext cx="594360" cy="178308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1089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1832" y="3154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56616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DTC + specialty grocery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" y="386791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 (highest review volume globally)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1832" y="41696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Australia (above-avg craft scores)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" y="447141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mass retail in year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0872" y="306324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3063240"/>
            <a:ext cx="594360" cy="1783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31089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76672" y="3154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56616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lead with &gt;80% cocoa 'intense' range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76672" y="386791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Madagascar — over-saturated (145 bars)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76672" y="41696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mass market pricing in premium tier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447141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market cocoa % as primary quality signal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5C3317">
              <a:alpha val="3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5C3317">
              <a:alpha val="30000"/>
            </a:srgbClr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109728"/>
            <a:ext cx="54864" cy="493776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Verdict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a 68% Haiti single-origin bar.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it at $9–$12. Tell the origin story.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Debunk the cocoa% myth. Own the premium tier.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816352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market is under-served — only 39% of bars qualify, creating real upside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00984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735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 + 68% cocoa is a data-backed formula no major brand has exploited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85616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581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Forastero Parazinho beans bring scarcity and elite flavor credentials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270248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4281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Australia are the most receptive markets with highest engagement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Flavors of Cacao — 1,795 professional chocolate bar reviews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Makes a Premium Chocolate? — Product Analytics</dc:title>
  <dc:subject>PptxGenJS Presentation</dc:subject>
  <dc:creator>PptxGenJS</dc:creator>
  <cp:lastModifiedBy>PptxGenJS</cp:lastModifiedBy>
  <cp:revision>1</cp:revision>
  <dcterms:created xsi:type="dcterms:W3CDTF">2026-04-24T09:49:50Z</dcterms:created>
  <dcterms:modified xsi:type="dcterms:W3CDTF">2026-04-24T09:49:50Z</dcterms:modified>
</cp:coreProperties>
</file>